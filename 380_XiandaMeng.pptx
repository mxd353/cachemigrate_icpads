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72" r:id="rId10"/>
    <p:sldId id="273" r:id="rId11"/>
    <p:sldId id="263" r:id="rId12"/>
    <p:sldId id="274" r:id="rId13"/>
    <p:sldId id="275" r:id="rId14"/>
    <p:sldId id="268" r:id="rId15"/>
    <p:sldId id="271" r:id="rId16"/>
    <p:sldId id="276" r:id="rId17"/>
    <p:sldId id="277" r:id="rId18"/>
    <p:sldId id="278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ACC6"/>
    <a:srgbClr val="92CD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64" autoAdjust="0"/>
    <p:restoredTop sz="94660"/>
  </p:normalViewPr>
  <p:slideViewPr>
    <p:cSldViewPr snapToGrid="0">
      <p:cViewPr>
        <p:scale>
          <a:sx n="100" d="100"/>
          <a:sy n="100" d="100"/>
        </p:scale>
        <p:origin x="542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36E8E8-381B-6DFB-BB08-29A119D12C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5AEEABD-F248-6D1A-F367-A65B4030DA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DDC2CA-43CB-04B4-4267-57F7E5D3C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9CE85-E4CB-4AA4-9AA9-D84A29A3A735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9B0FFE-D2E5-F597-0BED-5100FE01A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8D6163-03FA-BD5A-40A4-63F52F047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5740-9CAA-4BBF-A508-94CD78E4C5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614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4CCE2D-926C-4078-A3F1-43D150B6B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E12A74-8778-B956-E670-E323FB1D6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6E3E85-9BB8-5608-35E9-61AC4D1DE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9CE85-E4CB-4AA4-9AA9-D84A29A3A735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43747A-86B4-992D-9851-A46BEC2B2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5656DF-6801-4052-01A5-907650FC9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5740-9CAA-4BBF-A508-94CD78E4C5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637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4AD7B3-7ADE-EA4A-09AA-52711806A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36F7B1-4E74-E274-016A-8A2062007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E3C2B4-64ED-85B3-2445-CAE852FB5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9CE85-E4CB-4AA4-9AA9-D84A29A3A735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80B843-99B5-63FF-E918-69D80744E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E35706-710C-0A08-B1A0-293AD6ACC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5740-9CAA-4BBF-A508-94CD78E4C5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700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6FD0CF-8DEF-90C0-B15E-0915F4A0D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CD6FFE-35F4-8B41-1F10-E085809668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71B9BE-4925-FAFF-E35A-1773B2881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121674-C29F-4A5C-ECC8-44C1EE8C2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9CE85-E4CB-4AA4-9AA9-D84A29A3A735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49AAB9-3581-0E90-7F64-32A84D8BD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22EDB7A-6787-8A93-B96D-60F7B6DA2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5740-9CAA-4BBF-A508-94CD78E4C5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258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BB18CB-3DCD-C9C3-D6DE-A0C4FC8CC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37BAEA-F0DD-49EA-1E21-9ACF6D2C6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3376763-678D-3869-9CA0-18CED14654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923D252-C9E2-3048-1904-08985E2EDE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CAEF8FD-7E13-EE10-2A33-C07F24251D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FDF2A31-402F-DDE5-7685-AF8B33C47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9CE85-E4CB-4AA4-9AA9-D84A29A3A735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30813B9-0993-BE53-3FB3-A53E1D56E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1B22A03-E582-7DF4-F352-5F4F980F5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5740-9CAA-4BBF-A508-94CD78E4C5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845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B1552B-D7E4-615D-5F09-FB83EF276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BBFFA8-8446-835E-A0DB-E3F416AB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9CE85-E4CB-4AA4-9AA9-D84A29A3A735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981D92-D7F1-77D6-F972-1EFA51A10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F75ABA3-83C2-A58B-6996-82AE9DD1E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5740-9CAA-4BBF-A508-94CD78E4C5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2256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AC2E977-535C-F2C3-9866-C617210E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9CE85-E4CB-4AA4-9AA9-D84A29A3A735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0F060BA-9363-88F1-6015-2D06467CF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35ADFF-E438-B5C9-F68A-C487813DF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5740-9CAA-4BBF-A508-94CD78E4C5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271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F61505-5724-2F88-3C9F-2E125A83B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B56915-6F5E-A258-45AB-E3DCA4439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33E565-B873-1C5F-5732-6763C474E8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7DD21A-023D-1B74-8930-D5FA94F9B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9CE85-E4CB-4AA4-9AA9-D84A29A3A735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5CE69D-620C-D0BF-0AB0-ADD49F25C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4F524E-9BA9-A8B2-4CB6-23FB301BB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5740-9CAA-4BBF-A508-94CD78E4C5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4070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7E8744-B96F-8215-F9D9-738328A79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B2269B4-71FB-9DEE-7BA1-A669716E3F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82EF9F-4A14-557A-D1BE-2EB2AEF23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8E89E1-163F-CF81-5310-1CB2D2B34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9CE85-E4CB-4AA4-9AA9-D84A29A3A735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9ED3F5-4770-3B9C-4447-28C45DD96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E295A2-2884-5004-F0FA-D6FE7D203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5740-9CAA-4BBF-A508-94CD78E4C5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2862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A79D3E-80C1-7EC9-78B6-9CFD9E2AA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5094EE7-1778-12FC-61AA-9FB1F6D8F0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140526-BD3D-1E4A-61D9-23B94DA2C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9CE85-E4CB-4AA4-9AA9-D84A29A3A735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A022D2-2232-DE0F-BC9E-28CF8C5CE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C1006D-7917-87B6-A378-1E2813DB9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5740-9CAA-4BBF-A508-94CD78E4C5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23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6AC323B-B70B-1AAB-D520-2BFE8A4F56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F4CF0B5-A22B-9074-BD18-797760280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2D6F9E-78AB-CFD6-D551-F7A018325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9CE85-E4CB-4AA4-9AA9-D84A29A3A735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83147C-6B53-A1CE-4FE4-A8D6043A7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27C014-420C-B525-EF38-E13564E69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75740-9CAA-4BBF-A508-94CD78E4C5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6790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2A9676B-D866-0AA4-3482-8B32FF3F2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2711B9-0BC6-D281-2E74-4116D59B4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73094C-51ED-DB4E-196A-40084A2BFA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19CE85-E4CB-4AA4-9AA9-D84A29A3A735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12EB67-A392-765E-A8A1-2C48D36A6C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429B7A-8F58-D7D8-005F-5DA3D10AEA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675740-9CAA-4BBF-A508-94CD78E4C5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739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Drawing.vsdx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E20B66-A0D4-404E-5DC5-24CB5057A6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CN" sz="3600" b="1" dirty="0"/>
              <a:t>CacheMigrate: Efficient Cache Migration for Load Balancing in Distributed Key-Value Storage Systems</a:t>
            </a:r>
            <a:endParaRPr lang="zh-CN" altLang="en-US" sz="3600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7EC8EDE-2AEB-4952-C0C5-2E92DBF073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6988"/>
          </a:xfrm>
        </p:spPr>
        <p:txBody>
          <a:bodyPr/>
          <a:lstStyle/>
          <a:p>
            <a:r>
              <a:rPr lang="en-US" altLang="zh-CN" sz="2000" dirty="0"/>
              <a:t>Xianda Meng,</a:t>
            </a:r>
            <a:r>
              <a:rPr lang="zh-CN" altLang="en-US" sz="2000" dirty="0"/>
              <a:t> </a:t>
            </a:r>
            <a:r>
              <a:rPr lang="en-US" altLang="zh-CN" sz="2000" dirty="0"/>
              <a:t>Ammar </a:t>
            </a:r>
            <a:r>
              <a:rPr lang="en-US" altLang="zh-CN" sz="2000" dirty="0" err="1"/>
              <a:t>Hawbani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Jiangyuan</a:t>
            </a:r>
            <a:r>
              <a:rPr lang="en-US" altLang="zh-CN" sz="2000" dirty="0"/>
              <a:t> Chen, Abdulbary Naji, Liang Zhao</a:t>
            </a:r>
          </a:p>
          <a:p>
            <a:endParaRPr lang="en-US" altLang="zh-CN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C2604C7-AB39-87FC-5778-A278E648D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6811" y="4061101"/>
            <a:ext cx="4498377" cy="129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376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6F74F4-3BA1-73E8-72CC-AAF0E0FE3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Key-Value Stores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2ECBB5-2DCA-5E5C-C0AC-8B84EC2DD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Widely used</a:t>
            </a:r>
          </a:p>
          <a:p>
            <a:pPr lvl="1"/>
            <a:r>
              <a:rPr lang="en-US" altLang="zh-CN" dirty="0"/>
              <a:t>Caching mechanisms</a:t>
            </a:r>
          </a:p>
          <a:p>
            <a:pPr lvl="1"/>
            <a:r>
              <a:rPr lang="en-US" altLang="zh-CN" dirty="0"/>
              <a:t>Real-time analysis and monitoring</a:t>
            </a:r>
          </a:p>
          <a:p>
            <a:pPr lvl="1"/>
            <a:r>
              <a:rPr lang="en-US" altLang="zh-CN" dirty="0"/>
              <a:t>Feature storage for machine learning</a:t>
            </a:r>
          </a:p>
          <a:p>
            <a:r>
              <a:rPr lang="en-US" altLang="zh-CN" dirty="0"/>
              <a:t>Huge scale</a:t>
            </a:r>
          </a:p>
          <a:p>
            <a:pPr lvl="1"/>
            <a:r>
              <a:rPr lang="en-US" altLang="zh-CN" dirty="0"/>
              <a:t>Storing billions of data entries</a:t>
            </a:r>
          </a:p>
          <a:p>
            <a:pPr lvl="1"/>
            <a:r>
              <a:rPr lang="en-US" altLang="zh-CN" dirty="0"/>
              <a:t>Retrieving millions of records with low latency constraints</a:t>
            </a:r>
          </a:p>
          <a:p>
            <a:pPr lvl="1"/>
            <a:r>
              <a:rPr lang="en-US" altLang="zh-CN" dirty="0"/>
              <a:t>Highly load-skewed</a:t>
            </a:r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8A8D4AE-C068-245D-C230-31C42E7F8010}"/>
              </a:ext>
            </a:extLst>
          </p:cNvPr>
          <p:cNvGrpSpPr/>
          <p:nvPr/>
        </p:nvGrpSpPr>
        <p:grpSpPr>
          <a:xfrm>
            <a:off x="6539056" y="1432271"/>
            <a:ext cx="4016723" cy="2927290"/>
            <a:chOff x="6638446" y="1690688"/>
            <a:chExt cx="4016723" cy="2927290"/>
          </a:xfrm>
        </p:grpSpPr>
        <p:pic>
          <p:nvPicPr>
            <p:cNvPr id="5" name="Picture 4" descr="大型服务器数据中心图片素材-正版创意图片600854348-摄图网">
              <a:extLst>
                <a:ext uri="{FF2B5EF4-FFF2-40B4-BE49-F238E27FC236}">
                  <a16:creationId xmlns:a16="http://schemas.microsoft.com/office/drawing/2014/main" id="{4F497DE5-5962-BF03-1B7F-0B653BF60F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38446" y="1690688"/>
              <a:ext cx="4016723" cy="26769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C311F658-DF13-EB4A-A5BA-20BF3061EB5A}"/>
                </a:ext>
              </a:extLst>
            </p:cNvPr>
            <p:cNvSpPr txBox="1"/>
            <p:nvPr/>
          </p:nvSpPr>
          <p:spPr>
            <a:xfrm>
              <a:off x="7879236" y="4340979"/>
              <a:ext cx="15351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Google Data Center</a:t>
              </a:r>
              <a:endParaRPr lang="zh-CN" altLang="en-US" sz="1200" dirty="0"/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386F8CB5-C6B0-8C3F-EA8A-54D57CE193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21" t="5589" r="4660" b="6540"/>
          <a:stretch/>
        </p:blipFill>
        <p:spPr>
          <a:xfrm>
            <a:off x="838200" y="5294577"/>
            <a:ext cx="3923714" cy="119829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15A1DAB-78A2-26D6-CA33-4FCA25CCAF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8728" y="5006791"/>
            <a:ext cx="629748" cy="64854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BBCAB39-87AC-89A5-AF95-E839738EA6A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598" t="24608" r="9683" b="17623"/>
          <a:stretch/>
        </p:blipFill>
        <p:spPr>
          <a:xfrm>
            <a:off x="9352255" y="5058620"/>
            <a:ext cx="924730" cy="544890"/>
          </a:xfrm>
          <a:prstGeom prst="rect">
            <a:avLst/>
          </a:prstGeom>
        </p:spPr>
      </p:pic>
      <p:pic>
        <p:nvPicPr>
          <p:cNvPr id="10" name="Picture 6" descr="腾讯 - 搜狗百科">
            <a:extLst>
              <a:ext uri="{FF2B5EF4-FFF2-40B4-BE49-F238E27FC236}">
                <a16:creationId xmlns:a16="http://schemas.microsoft.com/office/drawing/2014/main" id="{677316FE-FD32-F476-5E43-3086E94221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729" b="38741"/>
          <a:stretch/>
        </p:blipFill>
        <p:spPr bwMode="auto">
          <a:xfrm>
            <a:off x="6808851" y="5081497"/>
            <a:ext cx="2203030" cy="37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91BBEC8-6432-3D10-7900-13ED2E9CADC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3817" t="12181" r="14193"/>
          <a:stretch/>
        </p:blipFill>
        <p:spPr>
          <a:xfrm>
            <a:off x="6377591" y="5730770"/>
            <a:ext cx="624119" cy="63643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C720F33-D19E-9615-9FBC-32B6AB21E08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4686" b="8821"/>
          <a:stretch/>
        </p:blipFill>
        <p:spPr>
          <a:xfrm>
            <a:off x="7416960" y="5705272"/>
            <a:ext cx="752507" cy="68743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29B56CA-E0A8-0F4A-7352-49CBC547177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5898" b="5898"/>
          <a:stretch/>
        </p:blipFill>
        <p:spPr>
          <a:xfrm>
            <a:off x="8550750" y="5685569"/>
            <a:ext cx="772817" cy="70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739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6BB09F-79B4-FDF9-D88D-ED0AC528E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Existing Solutions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000CE6-EB64-960B-DEFA-9C8F9FCB6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Consistent hashing algorithm</a:t>
            </a:r>
          </a:p>
          <a:p>
            <a:pPr lvl="1"/>
            <a:r>
              <a:rPr lang="en-US" altLang="zh-CN" dirty="0"/>
              <a:t>Ignoring dynamic and skewed workloads</a:t>
            </a:r>
          </a:p>
          <a:p>
            <a:r>
              <a:rPr lang="en-US" altLang="zh-CN" dirty="0"/>
              <a:t>Front-end caching</a:t>
            </a:r>
          </a:p>
          <a:p>
            <a:pPr lvl="1"/>
            <a:r>
              <a:rPr lang="en-US" altLang="zh-CN" dirty="0"/>
              <a:t>Limited cache resources</a:t>
            </a:r>
          </a:p>
          <a:p>
            <a:pPr lvl="1"/>
            <a:r>
              <a:rPr lang="en-US" altLang="zh-CN" dirty="0"/>
              <a:t>Single-rack load balancing cannot meet the needs of multi-rack systems</a:t>
            </a:r>
          </a:p>
          <a:p>
            <a:r>
              <a:rPr lang="en-US" altLang="zh-CN" dirty="0"/>
              <a:t>Data migration and replication</a:t>
            </a:r>
          </a:p>
          <a:p>
            <a:pPr lvl="1"/>
            <a:r>
              <a:rPr lang="en-US" altLang="zh-CN" dirty="0"/>
              <a:t>Service pause during migration</a:t>
            </a:r>
          </a:p>
          <a:p>
            <a:pPr lvl="1"/>
            <a:r>
              <a:rPr lang="it-IT" altLang="zh-CN" dirty="0"/>
              <a:t>Incremental migration storage overhead</a:t>
            </a:r>
          </a:p>
          <a:p>
            <a:pPr lvl="1"/>
            <a:r>
              <a:rPr lang="it-IT" altLang="zh-CN" dirty="0"/>
              <a:t>Data consistency guarantee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AF937DD-780A-44FE-F47E-0FEE7BEF1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6721" y="4001294"/>
            <a:ext cx="2836168" cy="2260297"/>
          </a:xfrm>
          <a:prstGeom prst="rect">
            <a:avLst/>
          </a:prstGeom>
        </p:spPr>
      </p:pic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2EDA4E8-F45B-C9B9-4E7F-4A6F381042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0379266"/>
              </p:ext>
            </p:extLst>
          </p:nvPr>
        </p:nvGraphicFramePr>
        <p:xfrm>
          <a:off x="6696116" y="1027906"/>
          <a:ext cx="5257378" cy="21788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6309430" imgH="2613825" progId="Visio.Drawing.15">
                  <p:embed/>
                </p:oleObj>
              </mc:Choice>
              <mc:Fallback>
                <p:oleObj name="Visio" r:id="rId3" imgW="6309430" imgH="2613825" progId="Visio.Drawing.15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72EDA4E8-F45B-C9B9-4E7F-4A6F381042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96116" y="1027906"/>
                        <a:ext cx="5257378" cy="21788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7559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C226F5-021E-1DB0-9B5A-1D13F6771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Caching + Migration = CacheMigrate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79139B-6973-1341-B992-179DC4E34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Single-rack systems are better suited to caching methods</a:t>
            </a:r>
          </a:p>
          <a:p>
            <a:r>
              <a:rPr lang="en-US" altLang="zh-CN" dirty="0"/>
              <a:t>Multi-rack systems are better suited to migration methods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868F3E8-EDF4-88E9-3ED2-605BB2F2F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365" y="3429000"/>
            <a:ext cx="10317270" cy="152153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B6ED948-84AC-48DB-807A-042CA383F253}"/>
              </a:ext>
            </a:extLst>
          </p:cNvPr>
          <p:cNvSpPr txBox="1"/>
          <p:nvPr/>
        </p:nvSpPr>
        <p:spPr>
          <a:xfrm>
            <a:off x="1761067" y="4256900"/>
            <a:ext cx="325120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D29E091-4856-69F3-7CC9-17D035C876FF}"/>
              </a:ext>
            </a:extLst>
          </p:cNvPr>
          <p:cNvSpPr txBox="1"/>
          <p:nvPr/>
        </p:nvSpPr>
        <p:spPr>
          <a:xfrm>
            <a:off x="2185352" y="4256900"/>
            <a:ext cx="325120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F66F29C-2D01-A4D8-5455-5E45708ABCAD}"/>
              </a:ext>
            </a:extLst>
          </p:cNvPr>
          <p:cNvSpPr txBox="1"/>
          <p:nvPr/>
        </p:nvSpPr>
        <p:spPr>
          <a:xfrm>
            <a:off x="8216053" y="4256900"/>
            <a:ext cx="325120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003770C-7E52-A752-13EC-5E1892D52A3F}"/>
              </a:ext>
            </a:extLst>
          </p:cNvPr>
          <p:cNvSpPr txBox="1"/>
          <p:nvPr/>
        </p:nvSpPr>
        <p:spPr>
          <a:xfrm>
            <a:off x="9681528" y="4256900"/>
            <a:ext cx="325120" cy="3693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3AD5EE1-4B37-02EF-A256-E6D5B1B6BD9B}"/>
              </a:ext>
            </a:extLst>
          </p:cNvPr>
          <p:cNvSpPr txBox="1"/>
          <p:nvPr/>
        </p:nvSpPr>
        <p:spPr>
          <a:xfrm>
            <a:off x="3325707" y="4256900"/>
            <a:ext cx="325120" cy="36933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DBF7893-B499-52EF-CD87-776EFAE15C52}"/>
              </a:ext>
            </a:extLst>
          </p:cNvPr>
          <p:cNvSpPr txBox="1"/>
          <p:nvPr/>
        </p:nvSpPr>
        <p:spPr>
          <a:xfrm>
            <a:off x="10105813" y="4256900"/>
            <a:ext cx="325120" cy="36933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0910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F60EF2-7178-FC3A-FB9B-83DFEC80C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Challenges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0647DB-1C72-9822-EFB4-819CED5EC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How to select the right content to migrate</a:t>
            </a:r>
          </a:p>
          <a:p>
            <a:endParaRPr lang="en-US" altLang="zh-CN" dirty="0"/>
          </a:p>
          <a:p>
            <a:r>
              <a:rPr lang="en-US" altLang="zh-CN" dirty="0"/>
              <a:t>How to minimize service downtime during migration</a:t>
            </a:r>
          </a:p>
          <a:p>
            <a:endParaRPr lang="en-US" altLang="zh-CN" dirty="0"/>
          </a:p>
          <a:p>
            <a:r>
              <a:rPr lang="en-US" altLang="zh-CN" dirty="0"/>
              <a:t>How to ensure data consistency during migration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1455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999B2-D70F-F606-B4E9-A7F2FB2BC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005B9F-B370-7E15-47EB-2896B52A8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Challenges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8B6718-5C49-47D6-A1FF-BD7D67BB3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How to select the right content to migrate</a:t>
            </a:r>
          </a:p>
          <a:p>
            <a:endParaRPr lang="en-US" altLang="zh-CN" dirty="0"/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How to minimize service downtime during migration</a:t>
            </a:r>
          </a:p>
          <a:p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How to ensure data consistency during migration</a:t>
            </a:r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7670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828BF2-D53E-7D69-0F33-B503277F5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Load Management &amp; Content Selection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EC22BF-F71C-C185-BC59-40AFEBA95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78287" cy="4351338"/>
          </a:xfrm>
        </p:spPr>
        <p:txBody>
          <a:bodyPr/>
          <a:lstStyle/>
          <a:p>
            <a:r>
              <a:rPr lang="en-US" altLang="zh-CN" dirty="0"/>
              <a:t>Migration decision:</a:t>
            </a:r>
            <a:r>
              <a:rPr lang="zh-CN" altLang="en-US" dirty="0"/>
              <a:t> </a:t>
            </a:r>
            <a:endParaRPr lang="en-US" altLang="zh-CN" dirty="0"/>
          </a:p>
          <a:p>
            <a:pPr lvl="1"/>
            <a:r>
              <a:rPr lang="en-US" altLang="zh-CN" dirty="0"/>
              <a:t>The controller monitors the global ToR switch load</a:t>
            </a:r>
          </a:p>
          <a:p>
            <a:r>
              <a:rPr lang="en-US" altLang="zh-CN" dirty="0"/>
              <a:t>Migration start: </a:t>
            </a:r>
          </a:p>
          <a:p>
            <a:pPr lvl="1"/>
            <a:r>
              <a:rPr lang="en-US" altLang="zh-CN" dirty="0"/>
              <a:t>A heavy-hit detector was deployed on the switch to detect hotspots in the network in real time</a:t>
            </a:r>
          </a:p>
          <a:p>
            <a:pPr lvl="1"/>
            <a:r>
              <a:rPr lang="en-US" altLang="zh-CN" dirty="0"/>
              <a:t>Hotspots are stored in the cache and ready for use during data migration.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FC75199-E91D-BA25-3CAD-9928DDB06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1848" y="2806300"/>
            <a:ext cx="2686575" cy="3104486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D1F64C47-37FF-5E78-8C90-71C38833F17C}"/>
              </a:ext>
            </a:extLst>
          </p:cNvPr>
          <p:cNvGrpSpPr/>
          <p:nvPr/>
        </p:nvGrpSpPr>
        <p:grpSpPr>
          <a:xfrm>
            <a:off x="5570541" y="1642745"/>
            <a:ext cx="2451795" cy="2547938"/>
            <a:chOff x="5643693" y="1318844"/>
            <a:chExt cx="2732211" cy="2963279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8AA8196A-535F-CF70-5AB5-D6E4BEDA50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43693" y="1318844"/>
              <a:ext cx="2431442" cy="2811780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4B77E78-F46D-7B04-2469-EEA62A201BD0}"/>
                </a:ext>
              </a:extLst>
            </p:cNvPr>
            <p:cNvSpPr/>
            <p:nvPr/>
          </p:nvSpPr>
          <p:spPr>
            <a:xfrm>
              <a:off x="7260336" y="2956560"/>
              <a:ext cx="1115568" cy="1325563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1BA0BE0D-90B1-1136-8698-258F462CCA59}"/>
              </a:ext>
            </a:extLst>
          </p:cNvPr>
          <p:cNvSpPr/>
          <p:nvPr/>
        </p:nvSpPr>
        <p:spPr>
          <a:xfrm>
            <a:off x="8467344" y="3508832"/>
            <a:ext cx="2886456" cy="2401954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EA3ED854-14D0-D45E-8DA5-15E667B878A6}"/>
              </a:ext>
            </a:extLst>
          </p:cNvPr>
          <p:cNvCxnSpPr/>
          <p:nvPr/>
        </p:nvCxnSpPr>
        <p:spPr>
          <a:xfrm>
            <a:off x="8022336" y="3048000"/>
            <a:ext cx="445008" cy="460832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A158A8F-94E4-E7C9-7FB2-0A82246AD164}"/>
              </a:ext>
            </a:extLst>
          </p:cNvPr>
          <p:cNvCxnSpPr>
            <a:cxnSpLocks/>
          </p:cNvCxnSpPr>
          <p:nvPr/>
        </p:nvCxnSpPr>
        <p:spPr>
          <a:xfrm>
            <a:off x="8022336" y="4190683"/>
            <a:ext cx="445008" cy="1720103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012661A5-66D8-307A-BD2D-682C8F99FFF4}"/>
              </a:ext>
            </a:extLst>
          </p:cNvPr>
          <p:cNvSpPr/>
          <p:nvPr/>
        </p:nvSpPr>
        <p:spPr>
          <a:xfrm>
            <a:off x="5833872" y="4041648"/>
            <a:ext cx="3005328" cy="1013467"/>
          </a:xfrm>
          <a:custGeom>
            <a:avLst/>
            <a:gdLst>
              <a:gd name="csX0" fmla="*/ 0 w 2950464"/>
              <a:gd name="csY0" fmla="*/ 0 h 1013467"/>
              <a:gd name="csX1" fmla="*/ 810768 w 2950464"/>
              <a:gd name="csY1" fmla="*/ 1011936 h 1013467"/>
              <a:gd name="csX2" fmla="*/ 2950464 w 2950464"/>
              <a:gd name="csY2" fmla="*/ 182880 h 1013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950464" h="1013467">
                <a:moveTo>
                  <a:pt x="0" y="0"/>
                </a:moveTo>
                <a:cubicBezTo>
                  <a:pt x="159512" y="490728"/>
                  <a:pt x="319024" y="981456"/>
                  <a:pt x="810768" y="1011936"/>
                </a:cubicBezTo>
                <a:cubicBezTo>
                  <a:pt x="1302512" y="1042416"/>
                  <a:pt x="2126488" y="612648"/>
                  <a:pt x="2950464" y="182880"/>
                </a:cubicBezTo>
              </a:path>
            </a:pathLst>
          </a:custGeom>
          <a:noFill/>
          <a:ln w="133350">
            <a:solidFill>
              <a:schemeClr val="accent2">
                <a:lumMod val="40000"/>
                <a:lumOff val="60000"/>
              </a:schemeClr>
            </a:solidFill>
            <a:headEnd type="stealth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7528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02086-9572-3A21-FD34-0A343B970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A80741-45EF-BF51-5072-BABCAE56D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Challenges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6C0F8E-077B-88BA-6EDD-0305EB35E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How to select the right content to migrate</a:t>
            </a:r>
          </a:p>
          <a:p>
            <a:endParaRPr lang="en-US" altLang="zh-CN" dirty="0"/>
          </a:p>
          <a:p>
            <a:r>
              <a:rPr lang="en-US" altLang="zh-CN" dirty="0"/>
              <a:t>How to minimize service downtime during migration</a:t>
            </a:r>
          </a:p>
          <a:p>
            <a:endParaRPr lang="en-US" altLang="zh-CN" dirty="0"/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How to ensure data consistency during migration</a:t>
            </a:r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32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EEC339-ADF1-7AB8-5A84-52B31FF5F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Service Downtime Challenges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BB7A63-6442-41FB-A6C2-22082AE4D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Conventional migration may cause:</a:t>
            </a:r>
          </a:p>
          <a:p>
            <a:pPr lvl="1"/>
            <a:r>
              <a:rPr lang="en-US" altLang="zh-CN" dirty="0"/>
              <a:t>Requests reaching outdated server</a:t>
            </a:r>
          </a:p>
          <a:p>
            <a:pPr lvl="1"/>
            <a:r>
              <a:rPr lang="en-US" altLang="zh-CN" dirty="0"/>
              <a:t>Network path inconsistency</a:t>
            </a:r>
          </a:p>
          <a:p>
            <a:pPr lvl="1"/>
            <a:r>
              <a:rPr lang="en-US" altLang="zh-CN" dirty="0"/>
              <a:t>Temporary unavailability while routing converges</a:t>
            </a:r>
          </a:p>
          <a:p>
            <a:r>
              <a:rPr lang="en-US" altLang="zh-CN" dirty="0"/>
              <a:t>Key goal</a:t>
            </a:r>
            <a:r>
              <a:rPr lang="zh-CN" altLang="en-US" dirty="0"/>
              <a:t>：</a:t>
            </a:r>
            <a:r>
              <a:rPr lang="en-US" altLang="zh-CN" b="1" dirty="0"/>
              <a:t>clients should not perceive any disruption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90219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76BCE8-7B49-E407-51B9-0731B089A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75490" cy="1325563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Minimizing Downtime via ToR-Level Handling</a:t>
            </a:r>
            <a:endParaRPr lang="zh-CN" altLang="en-US" sz="40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1D73A5-CCEF-1711-EE2A-E28A3922A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32220" cy="4351338"/>
          </a:xfrm>
        </p:spPr>
        <p:txBody>
          <a:bodyPr/>
          <a:lstStyle/>
          <a:p>
            <a:r>
              <a:rPr lang="en-US" altLang="zh-CN" dirty="0"/>
              <a:t>Switch-based fast rerouting</a:t>
            </a:r>
          </a:p>
          <a:p>
            <a:pPr lvl="1"/>
            <a:r>
              <a:rPr lang="en-US" altLang="zh-CN" dirty="0"/>
              <a:t>KeyMigrationReady → Spine updates routing</a:t>
            </a:r>
          </a:p>
          <a:p>
            <a:r>
              <a:rPr lang="en-US" altLang="zh-CN" b="1" dirty="0"/>
              <a:t>ToR temporarily handles all requests</a:t>
            </a:r>
            <a:r>
              <a:rPr lang="en-US" altLang="zh-CN" dirty="0"/>
              <a:t> (acts as migration proxy)</a:t>
            </a:r>
          </a:p>
          <a:p>
            <a:r>
              <a:rPr lang="en-US" altLang="zh-CN" dirty="0"/>
              <a:t>No client-side retries or REST failures</a:t>
            </a:r>
          </a:p>
          <a:p>
            <a:r>
              <a:rPr lang="en-US" altLang="zh-CN" dirty="0"/>
              <a:t>Rerouting convergence occurs </a:t>
            </a:r>
            <a:r>
              <a:rPr lang="en-US" altLang="zh-CN" i="1" dirty="0"/>
              <a:t>under the switch’s control</a:t>
            </a:r>
            <a:r>
              <a:rPr lang="en-US" altLang="zh-CN" dirty="0"/>
              <a:t>, not exposed to user traffic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AAF7A61-FE7E-82DE-ED6A-878EE6750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3455" y="2301613"/>
            <a:ext cx="4140235" cy="307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843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4A83E-5C8D-F509-F540-2A6E81F48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38F115-9AD5-92EB-6D83-A9D114BBF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Challenges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B527A5-541A-8B16-BB89-D30783D58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How to select the right content to migrate</a:t>
            </a:r>
          </a:p>
          <a:p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How to minimize service downtime during migration</a:t>
            </a:r>
          </a:p>
          <a:p>
            <a:endParaRPr lang="en-US" altLang="zh-CN" dirty="0"/>
          </a:p>
          <a:p>
            <a:r>
              <a:rPr lang="en-US" altLang="zh-CN" dirty="0"/>
              <a:t>How to ensure data consistency during migration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3017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B22431-F627-F55D-4ED0-66A425406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Why Consistency Is Difficult During Key Migration</a:t>
            </a:r>
            <a:endParaRPr lang="zh-CN" altLang="en-US" sz="36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7A31B2-C922-54E3-06AE-1DF0B861D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63840" cy="4351338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Transition window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en-US" altLang="zh-CN" dirty="0"/>
              <a:t>Source server sending state → new server not ready</a:t>
            </a:r>
          </a:p>
          <a:p>
            <a:pPr lvl="1"/>
            <a:r>
              <a:rPr lang="en-US" altLang="zh-CN" dirty="0"/>
              <a:t>Routing updates are not instantaneous</a:t>
            </a:r>
          </a:p>
          <a:p>
            <a:pPr lvl="1"/>
            <a:r>
              <a:rPr lang="en-US" altLang="zh-CN" dirty="0"/>
              <a:t>Requests might hit different destinations</a:t>
            </a:r>
          </a:p>
          <a:p>
            <a:r>
              <a:rPr lang="en-US" altLang="zh-CN" dirty="0"/>
              <a:t>Potential risks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en-US" altLang="zh-CN" b="1" dirty="0"/>
              <a:t>Stale reads</a:t>
            </a:r>
            <a:r>
              <a:rPr lang="en-US" altLang="zh-CN" dirty="0"/>
              <a:t> </a:t>
            </a:r>
          </a:p>
          <a:p>
            <a:pPr lvl="2"/>
            <a:r>
              <a:rPr lang="en-US" altLang="zh-CN" dirty="0"/>
              <a:t>old value still served by old server</a:t>
            </a:r>
          </a:p>
          <a:p>
            <a:pPr lvl="1"/>
            <a:r>
              <a:rPr lang="en-US" altLang="zh-CN" b="1" dirty="0"/>
              <a:t>Lost writes</a:t>
            </a:r>
            <a:r>
              <a:rPr lang="en-US" altLang="zh-CN" dirty="0"/>
              <a:t> </a:t>
            </a:r>
          </a:p>
          <a:p>
            <a:pPr lvl="2"/>
            <a:r>
              <a:rPr lang="en-US" altLang="zh-CN" dirty="0"/>
              <a:t>updates issued during migration may be dropped</a:t>
            </a:r>
          </a:p>
          <a:p>
            <a:pPr lvl="1"/>
            <a:r>
              <a:rPr lang="en-US" altLang="zh-CN" b="1" dirty="0"/>
              <a:t>Read-after-write violations</a:t>
            </a:r>
            <a:r>
              <a:rPr lang="en-US" altLang="zh-CN" dirty="0"/>
              <a:t> </a:t>
            </a:r>
          </a:p>
          <a:p>
            <a:pPr lvl="2"/>
            <a:r>
              <a:rPr lang="en-US" altLang="zh-CN" dirty="0"/>
              <a:t>write arrives at new server but read goes to old path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C24B8B7-0309-42FA-A60D-7EFE76C91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595" y="2293620"/>
            <a:ext cx="1969770" cy="315685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563BD1D-BF6A-6320-D58F-0CC80FE3C5FF}"/>
              </a:ext>
            </a:extLst>
          </p:cNvPr>
          <p:cNvSpPr txBox="1"/>
          <p:nvPr/>
        </p:nvSpPr>
        <p:spPr>
          <a:xfrm>
            <a:off x="9017000" y="2407920"/>
            <a:ext cx="802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DEAD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50AAC1E-77BF-62DC-8C36-F1CBD042D87B}"/>
              </a:ext>
            </a:extLst>
          </p:cNvPr>
          <p:cNvSpPr txBox="1"/>
          <p:nvPr/>
        </p:nvSpPr>
        <p:spPr>
          <a:xfrm>
            <a:off x="9418320" y="2967335"/>
            <a:ext cx="22250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old path?</a:t>
            </a:r>
          </a:p>
          <a:p>
            <a:r>
              <a:rPr lang="en-US" altLang="zh-CN" dirty="0"/>
              <a:t>new path?</a:t>
            </a:r>
          </a:p>
          <a:p>
            <a:r>
              <a:rPr lang="en-US" altLang="zh-CN" dirty="0"/>
              <a:t>inconsistent version?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6037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FC9CCA-A3C4-233B-8A25-87CD4671F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Ensuring Consistency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DCCB80-411E-0B24-C31B-E534E2D68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ToR Cache as a Consistency Barrier</a:t>
            </a:r>
          </a:p>
          <a:p>
            <a:pPr lvl="1"/>
            <a:r>
              <a:rPr lang="en-US" altLang="zh-CN"/>
              <a:t>During routing transition, ToR enters </a:t>
            </a:r>
            <a:r>
              <a:rPr lang="en-US" altLang="zh-CN" i="1"/>
              <a:t>migration mode</a:t>
            </a:r>
          </a:p>
          <a:p>
            <a:pPr lvl="1"/>
            <a:r>
              <a:rPr lang="en-US" altLang="zh-CN"/>
              <a:t>All reads served by ToR cache</a:t>
            </a:r>
          </a:p>
          <a:p>
            <a:pPr lvl="1"/>
            <a:r>
              <a:rPr lang="en-US" altLang="zh-CN"/>
              <a:t>Prevents both source and new server from being accessed</a:t>
            </a:r>
          </a:p>
          <a:p>
            <a:pPr lvl="1"/>
            <a:r>
              <a:rPr lang="en-US" altLang="zh-CN"/>
              <a:t>Ensures a </a:t>
            </a:r>
            <a:r>
              <a:rPr lang="en-US" altLang="zh-CN" b="1"/>
              <a:t>single source of truth</a:t>
            </a:r>
            <a:r>
              <a:rPr lang="en-US" altLang="zh-CN"/>
              <a:t> for all reads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4A52CF5-8D3C-01CD-0DCB-5743DF7FE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515" y="4001294"/>
            <a:ext cx="9284970" cy="177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042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7F1A33-A6F7-C935-E261-61E1E8E73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Write-Tracking Filter for Migration Writes</a:t>
            </a:r>
            <a:endParaRPr lang="zh-CN" altLang="en-US" dirty="0"/>
          </a:p>
        </p:txBody>
      </p:sp>
      <p:sp>
        <p:nvSpPr>
          <p:cNvPr id="40" name="内容占位符 39">
            <a:extLst>
              <a:ext uri="{FF2B5EF4-FFF2-40B4-BE49-F238E27FC236}">
                <a16:creationId xmlns:a16="http://schemas.microsoft.com/office/drawing/2014/main" id="{3D4A501C-6A8C-8C5C-51FB-5366B87ED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90360" cy="4351338"/>
          </a:xfrm>
        </p:spPr>
        <p:txBody>
          <a:bodyPr/>
          <a:lstStyle/>
          <a:p>
            <a:r>
              <a:rPr lang="en-US" altLang="zh-CN" dirty="0"/>
              <a:t>Tracks </a:t>
            </a:r>
            <a:r>
              <a:rPr lang="en-US" altLang="zh-CN" b="1" dirty="0"/>
              <a:t>all writes</a:t>
            </a:r>
            <a:r>
              <a:rPr lang="en-US" altLang="zh-CN" dirty="0"/>
              <a:t> to the migrating key during transition window</a:t>
            </a:r>
          </a:p>
          <a:p>
            <a:r>
              <a:rPr lang="en-US" altLang="zh-CN" dirty="0"/>
              <a:t>Maintains a strictly ordered write log</a:t>
            </a:r>
          </a:p>
          <a:p>
            <a:r>
              <a:rPr lang="en-US" altLang="zh-CN" dirty="0"/>
              <a:t>Prevents write loss or reordering</a:t>
            </a:r>
          </a:p>
          <a:p>
            <a:r>
              <a:rPr lang="en-US" altLang="zh-CN" dirty="0"/>
              <a:t>Ensures RAW, WAW, and WAR correctness</a:t>
            </a:r>
            <a:endParaRPr lang="zh-CN" altLang="en-US" dirty="0"/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93D69018-1352-C3BC-4412-04547CB81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31" y="4783847"/>
            <a:ext cx="7391400" cy="1641792"/>
          </a:xfrm>
          <a:prstGeom prst="rect">
            <a:avLst/>
          </a:prstGeom>
        </p:spPr>
      </p:pic>
      <p:grpSp>
        <p:nvGrpSpPr>
          <p:cNvPr id="55" name="组合 54">
            <a:extLst>
              <a:ext uri="{FF2B5EF4-FFF2-40B4-BE49-F238E27FC236}">
                <a16:creationId xmlns:a16="http://schemas.microsoft.com/office/drawing/2014/main" id="{A29EE5FB-18E1-B875-CFAE-5A750FFC2B16}"/>
              </a:ext>
            </a:extLst>
          </p:cNvPr>
          <p:cNvGrpSpPr/>
          <p:nvPr/>
        </p:nvGrpSpPr>
        <p:grpSpPr>
          <a:xfrm>
            <a:off x="2026749" y="4982602"/>
            <a:ext cx="5715001" cy="967740"/>
            <a:chOff x="3855719" y="4508184"/>
            <a:chExt cx="5715001" cy="967740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69C08AF9-D338-7FC0-1A4E-36C59B71A733}"/>
                </a:ext>
              </a:extLst>
            </p:cNvPr>
            <p:cNvSpPr/>
            <p:nvPr/>
          </p:nvSpPr>
          <p:spPr>
            <a:xfrm>
              <a:off x="3855719" y="4508184"/>
              <a:ext cx="5715001" cy="967740"/>
            </a:xfrm>
            <a:prstGeom prst="rect">
              <a:avLst/>
            </a:prstGeom>
            <a:solidFill>
              <a:srgbClr val="92CDD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AF9BF6FA-B80D-BC46-757A-81F4D0A7ECA7}"/>
                </a:ext>
              </a:extLst>
            </p:cNvPr>
            <p:cNvGrpSpPr/>
            <p:nvPr/>
          </p:nvGrpSpPr>
          <p:grpSpPr>
            <a:xfrm>
              <a:off x="5419476" y="4744404"/>
              <a:ext cx="3899784" cy="456635"/>
              <a:chOff x="3697356" y="2835635"/>
              <a:chExt cx="4412976" cy="569940"/>
            </a:xfrm>
          </p:grpSpPr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1C898803-A676-69C6-FAA5-9CEF36D8B29A}"/>
                  </a:ext>
                </a:extLst>
              </p:cNvPr>
              <p:cNvSpPr/>
              <p:nvPr/>
            </p:nvSpPr>
            <p:spPr>
              <a:xfrm>
                <a:off x="3697356" y="2835635"/>
                <a:ext cx="735496" cy="5699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54D75748-D363-F7BC-4CA4-19CF44F3EB82}"/>
                  </a:ext>
                </a:extLst>
              </p:cNvPr>
              <p:cNvSpPr/>
              <p:nvPr/>
            </p:nvSpPr>
            <p:spPr>
              <a:xfrm>
                <a:off x="4432852" y="2835635"/>
                <a:ext cx="735496" cy="5699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CC076F49-7CA5-BDA1-0A80-5D1CF4F0823A}"/>
                  </a:ext>
                </a:extLst>
              </p:cNvPr>
              <p:cNvSpPr/>
              <p:nvPr/>
            </p:nvSpPr>
            <p:spPr>
              <a:xfrm>
                <a:off x="5168348" y="2835635"/>
                <a:ext cx="735496" cy="5699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CD4D277D-5803-9AD7-06A2-A9AA268B0A4E}"/>
                  </a:ext>
                </a:extLst>
              </p:cNvPr>
              <p:cNvSpPr/>
              <p:nvPr/>
            </p:nvSpPr>
            <p:spPr>
              <a:xfrm>
                <a:off x="5903844" y="2835635"/>
                <a:ext cx="735496" cy="5699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5CD82CF3-31A6-7270-0FF5-4702FF4851BB}"/>
                  </a:ext>
                </a:extLst>
              </p:cNvPr>
              <p:cNvSpPr/>
              <p:nvPr/>
            </p:nvSpPr>
            <p:spPr>
              <a:xfrm>
                <a:off x="6639340" y="2835635"/>
                <a:ext cx="735496" cy="5699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F444A90E-501C-EBDE-66AC-9E8382B39FB8}"/>
                  </a:ext>
                </a:extLst>
              </p:cNvPr>
              <p:cNvSpPr/>
              <p:nvPr/>
            </p:nvSpPr>
            <p:spPr>
              <a:xfrm>
                <a:off x="7374836" y="2835635"/>
                <a:ext cx="735496" cy="5699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482F75E0-967E-DC0E-4C19-B6E124E29FB6}"/>
                </a:ext>
              </a:extLst>
            </p:cNvPr>
            <p:cNvSpPr txBox="1"/>
            <p:nvPr/>
          </p:nvSpPr>
          <p:spPr>
            <a:xfrm>
              <a:off x="3855719" y="4800929"/>
              <a:ext cx="165652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b="1" dirty="0"/>
                <a:t>Bloom Filter</a:t>
              </a:r>
            </a:p>
          </p:txBody>
        </p:sp>
      </p:grpSp>
      <p:pic>
        <p:nvPicPr>
          <p:cNvPr id="53" name="图片 52">
            <a:extLst>
              <a:ext uri="{FF2B5EF4-FFF2-40B4-BE49-F238E27FC236}">
                <a16:creationId xmlns:a16="http://schemas.microsoft.com/office/drawing/2014/main" id="{59D42908-1C0F-F1FB-8CD1-1FA9A9EA5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1262" y="5931009"/>
            <a:ext cx="1719138" cy="587372"/>
          </a:xfrm>
          <a:prstGeom prst="rect">
            <a:avLst/>
          </a:prstGeom>
        </p:spPr>
      </p:pic>
      <p:sp>
        <p:nvSpPr>
          <p:cNvPr id="54" name="矩形 53">
            <a:extLst>
              <a:ext uri="{FF2B5EF4-FFF2-40B4-BE49-F238E27FC236}">
                <a16:creationId xmlns:a16="http://schemas.microsoft.com/office/drawing/2014/main" id="{8CD930BC-1AFD-8C22-F09D-0E53518528D5}"/>
              </a:ext>
            </a:extLst>
          </p:cNvPr>
          <p:cNvSpPr/>
          <p:nvPr/>
        </p:nvSpPr>
        <p:spPr>
          <a:xfrm>
            <a:off x="674200" y="4963269"/>
            <a:ext cx="1234440" cy="9677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KV Cache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9DAF0C9B-8BD5-142C-5EF9-9893A553F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9168" y="1495547"/>
            <a:ext cx="485002" cy="1238300"/>
          </a:xfrm>
          <a:prstGeom prst="rect">
            <a:avLst/>
          </a:prstGeom>
        </p:spPr>
      </p:pic>
      <p:sp>
        <p:nvSpPr>
          <p:cNvPr id="58" name="矩形 57">
            <a:extLst>
              <a:ext uri="{FF2B5EF4-FFF2-40B4-BE49-F238E27FC236}">
                <a16:creationId xmlns:a16="http://schemas.microsoft.com/office/drawing/2014/main" id="{5F4EFA42-9DEE-88B6-BD51-BEFED9CDA9B4}"/>
              </a:ext>
            </a:extLst>
          </p:cNvPr>
          <p:cNvSpPr/>
          <p:nvPr/>
        </p:nvSpPr>
        <p:spPr>
          <a:xfrm>
            <a:off x="7174934" y="2772512"/>
            <a:ext cx="4663440" cy="967740"/>
          </a:xfrm>
          <a:prstGeom prst="rect">
            <a:avLst/>
          </a:prstGeom>
          <a:solidFill>
            <a:srgbClr val="92CD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B521A4A-915B-2943-E0F3-6C49589A8C33}"/>
              </a:ext>
            </a:extLst>
          </p:cNvPr>
          <p:cNvSpPr/>
          <p:nvPr/>
        </p:nvSpPr>
        <p:spPr>
          <a:xfrm>
            <a:off x="7687130" y="3008732"/>
            <a:ext cx="649964" cy="4566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1AE4309B-C27A-CC23-E742-8A2812943F48}"/>
              </a:ext>
            </a:extLst>
          </p:cNvPr>
          <p:cNvSpPr/>
          <p:nvPr/>
        </p:nvSpPr>
        <p:spPr>
          <a:xfrm>
            <a:off x="8337094" y="3008732"/>
            <a:ext cx="649964" cy="4566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4399FB10-7D25-46F2-46FD-DF2151BEDFA6}"/>
              </a:ext>
            </a:extLst>
          </p:cNvPr>
          <p:cNvSpPr/>
          <p:nvPr/>
        </p:nvSpPr>
        <p:spPr>
          <a:xfrm>
            <a:off x="8987058" y="3008732"/>
            <a:ext cx="649964" cy="4566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D5DCCC3C-38A2-99EB-351F-DF1ED5131F25}"/>
              </a:ext>
            </a:extLst>
          </p:cNvPr>
          <p:cNvSpPr/>
          <p:nvPr/>
        </p:nvSpPr>
        <p:spPr>
          <a:xfrm>
            <a:off x="9637022" y="3008732"/>
            <a:ext cx="649964" cy="4566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3CFFC407-8B11-9A68-FB93-9B647B5356AA}"/>
              </a:ext>
            </a:extLst>
          </p:cNvPr>
          <p:cNvSpPr/>
          <p:nvPr/>
        </p:nvSpPr>
        <p:spPr>
          <a:xfrm>
            <a:off x="10286986" y="3008732"/>
            <a:ext cx="649964" cy="4566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B0CB21E3-BEA4-E290-7849-1C7FBB8A1226}"/>
              </a:ext>
            </a:extLst>
          </p:cNvPr>
          <p:cNvSpPr/>
          <p:nvPr/>
        </p:nvSpPr>
        <p:spPr>
          <a:xfrm>
            <a:off x="10936950" y="3008732"/>
            <a:ext cx="649964" cy="4566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1479E186-3658-A8DA-AF58-C1487928EA53}"/>
              </a:ext>
            </a:extLst>
          </p:cNvPr>
          <p:cNvSpPr txBox="1"/>
          <p:nvPr/>
        </p:nvSpPr>
        <p:spPr>
          <a:xfrm>
            <a:off x="7174934" y="3030694"/>
            <a:ext cx="5342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BF</a:t>
            </a:r>
          </a:p>
        </p:txBody>
      </p:sp>
      <p:pic>
        <p:nvPicPr>
          <p:cNvPr id="67" name="图片 66">
            <a:extLst>
              <a:ext uri="{FF2B5EF4-FFF2-40B4-BE49-F238E27FC236}">
                <a16:creationId xmlns:a16="http://schemas.microsoft.com/office/drawing/2014/main" id="{F2E75BAC-2329-1039-61E7-8FA1D7D65E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3127" y="1296282"/>
            <a:ext cx="1918750" cy="798486"/>
          </a:xfrm>
          <a:prstGeom prst="rect">
            <a:avLst/>
          </a:prstGeom>
        </p:spPr>
      </p:pic>
      <p:sp>
        <p:nvSpPr>
          <p:cNvPr id="68" name="文本框 67">
            <a:extLst>
              <a:ext uri="{FF2B5EF4-FFF2-40B4-BE49-F238E27FC236}">
                <a16:creationId xmlns:a16="http://schemas.microsoft.com/office/drawing/2014/main" id="{90AEB38F-0932-FACD-F40F-E6C0E355F8EC}"/>
              </a:ext>
            </a:extLst>
          </p:cNvPr>
          <p:cNvSpPr txBox="1"/>
          <p:nvPr/>
        </p:nvSpPr>
        <p:spPr>
          <a:xfrm>
            <a:off x="8877286" y="2201738"/>
            <a:ext cx="140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WRITE(A)</a:t>
            </a:r>
            <a:endParaRPr lang="zh-CN" altLang="en-US" dirty="0"/>
          </a:p>
        </p:txBody>
      </p:sp>
      <p:pic>
        <p:nvPicPr>
          <p:cNvPr id="69" name="图片 68">
            <a:extLst>
              <a:ext uri="{FF2B5EF4-FFF2-40B4-BE49-F238E27FC236}">
                <a16:creationId xmlns:a16="http://schemas.microsoft.com/office/drawing/2014/main" id="{2A349937-1396-8B06-6FF2-6D4087A3B7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6739" y="4824686"/>
            <a:ext cx="1534018" cy="1234267"/>
          </a:xfrm>
          <a:prstGeom prst="rect">
            <a:avLst/>
          </a:prstGeom>
        </p:spPr>
      </p:pic>
      <p:sp>
        <p:nvSpPr>
          <p:cNvPr id="70" name="文本框 69">
            <a:extLst>
              <a:ext uri="{FF2B5EF4-FFF2-40B4-BE49-F238E27FC236}">
                <a16:creationId xmlns:a16="http://schemas.microsoft.com/office/drawing/2014/main" id="{0608C870-6683-0889-68D0-D7049A39E663}"/>
              </a:ext>
            </a:extLst>
          </p:cNvPr>
          <p:cNvSpPr txBox="1"/>
          <p:nvPr/>
        </p:nvSpPr>
        <p:spPr>
          <a:xfrm>
            <a:off x="9980894" y="4253364"/>
            <a:ext cx="140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MIGRATE(A)</a:t>
            </a:r>
            <a:endParaRPr lang="zh-CN" altLang="en-US" dirty="0"/>
          </a:p>
        </p:txBody>
      </p:sp>
      <p:sp>
        <p:nvSpPr>
          <p:cNvPr id="71" name="箭头: 上 70">
            <a:extLst>
              <a:ext uri="{FF2B5EF4-FFF2-40B4-BE49-F238E27FC236}">
                <a16:creationId xmlns:a16="http://schemas.microsoft.com/office/drawing/2014/main" id="{37D89993-93A9-4D51-7AEF-041D21250636}"/>
              </a:ext>
            </a:extLst>
          </p:cNvPr>
          <p:cNvSpPr/>
          <p:nvPr/>
        </p:nvSpPr>
        <p:spPr>
          <a:xfrm>
            <a:off x="9577946" y="3778917"/>
            <a:ext cx="472440" cy="1045769"/>
          </a:xfrm>
          <a:prstGeom prst="upArrow">
            <a:avLst/>
          </a:prstGeom>
          <a:solidFill>
            <a:srgbClr val="4BAC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乘号 71">
            <a:extLst>
              <a:ext uri="{FF2B5EF4-FFF2-40B4-BE49-F238E27FC236}">
                <a16:creationId xmlns:a16="http://schemas.microsoft.com/office/drawing/2014/main" id="{0A4CAA77-F83D-1710-97F2-D7415DB16B97}"/>
              </a:ext>
            </a:extLst>
          </p:cNvPr>
          <p:cNvSpPr/>
          <p:nvPr/>
        </p:nvSpPr>
        <p:spPr>
          <a:xfrm>
            <a:off x="9379398" y="3574919"/>
            <a:ext cx="800045" cy="843779"/>
          </a:xfrm>
          <a:prstGeom prst="mathMultiply">
            <a:avLst>
              <a:gd name="adj1" fmla="val 1286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6856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D0594-05D5-AE0D-B0E4-F1907F18D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977608-7936-5E30-2461-A3C12A1B0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Final state synchronization</a:t>
            </a:r>
            <a:endParaRPr lang="zh-CN" altLang="en-US" dirty="0"/>
          </a:p>
        </p:txBody>
      </p:sp>
      <p:sp>
        <p:nvSpPr>
          <p:cNvPr id="17" name="内容占位符 16">
            <a:extLst>
              <a:ext uri="{FF2B5EF4-FFF2-40B4-BE49-F238E27FC236}">
                <a16:creationId xmlns:a16="http://schemas.microsoft.com/office/drawing/2014/main" id="{88520D09-EC8B-DDBF-699F-F3D53C857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altLang="zh-CN" dirty="0"/>
              <a:t>New server finishes receiving migrated state</a:t>
            </a:r>
          </a:p>
          <a:p>
            <a:r>
              <a:rPr lang="en-US" altLang="zh-CN" dirty="0"/>
              <a:t>ToR flushes Write-Tracking Filter in order</a:t>
            </a:r>
          </a:p>
          <a:p>
            <a:r>
              <a:rPr lang="en-US" altLang="zh-CN" dirty="0"/>
              <a:t>ToR exits migration mode and resumes normal routing</a:t>
            </a:r>
            <a:endParaRPr lang="zh-CN" altLang="en-US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13796858-095F-EBA7-C530-8117EA7F6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25625"/>
            <a:ext cx="5059680" cy="3816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420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32219C-BA54-6308-1495-BDB7AB340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Evaluation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CABB1E-B12A-1D1D-D548-2120D4707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Testbed</a:t>
            </a:r>
          </a:p>
          <a:p>
            <a:pPr lvl="1"/>
            <a:r>
              <a:rPr lang="en-US" altLang="zh-CN" dirty="0"/>
              <a:t>6.5 </a:t>
            </a:r>
            <a:r>
              <a:rPr lang="en-US" altLang="zh-CN" dirty="0" err="1"/>
              <a:t>Tbps</a:t>
            </a:r>
            <a:r>
              <a:rPr lang="en-US" altLang="zh-CN" dirty="0"/>
              <a:t> Intel Tofino switch</a:t>
            </a:r>
          </a:p>
          <a:p>
            <a:pPr lvl="1"/>
            <a:r>
              <a:rPr lang="en-US" altLang="zh-CN" dirty="0"/>
              <a:t>Commodity servers with ConnectX-5 100Gb.</a:t>
            </a:r>
          </a:p>
          <a:p>
            <a:pPr lvl="1"/>
            <a:r>
              <a:rPr lang="en-US" altLang="zh-CN" dirty="0"/>
              <a:t>Logical partition: 32 spines, 32 </a:t>
            </a:r>
            <a:r>
              <a:rPr lang="en-US" altLang="zh-CN" dirty="0" err="1"/>
              <a:t>ToRs</a:t>
            </a:r>
            <a:r>
              <a:rPr lang="en-US" altLang="zh-CN" dirty="0"/>
              <a:t>, 32 racks × 32 servers.</a:t>
            </a:r>
          </a:p>
          <a:p>
            <a:pPr lvl="1"/>
            <a:r>
              <a:rPr lang="en-US" altLang="zh-CN" dirty="0" err="1"/>
              <a:t>TommyDS</a:t>
            </a:r>
            <a:r>
              <a:rPr lang="en-US" altLang="zh-CN" dirty="0"/>
              <a:t>; client workloads via YCSB.</a:t>
            </a:r>
          </a:p>
          <a:p>
            <a:pPr lvl="1"/>
            <a:r>
              <a:rPr lang="en-US" altLang="zh-CN" dirty="0"/>
              <a:t>128-bit keys/values.</a:t>
            </a:r>
          </a:p>
          <a:p>
            <a:pPr lvl="1"/>
            <a:r>
              <a:rPr lang="en-US" altLang="zh-CN" dirty="0"/>
              <a:t>Cache per switch: 128 KV pairs.</a:t>
            </a:r>
          </a:p>
          <a:p>
            <a:r>
              <a:rPr lang="en-US" altLang="zh-CN" dirty="0"/>
              <a:t>Baselines</a:t>
            </a:r>
          </a:p>
          <a:p>
            <a:pPr lvl="1"/>
            <a:r>
              <a:rPr lang="en-US" altLang="zh-CN" dirty="0" err="1"/>
              <a:t>CacheMigrate</a:t>
            </a:r>
            <a:r>
              <a:rPr lang="en-US" altLang="zh-CN" dirty="0"/>
              <a:t>(ours),DistCache, NetCache, </a:t>
            </a:r>
            <a:r>
              <a:rPr lang="en-US" altLang="zh-CN" dirty="0" err="1"/>
              <a:t>NoCache</a:t>
            </a:r>
            <a:endParaRPr lang="en-US" altLang="zh-CN" dirty="0"/>
          </a:p>
          <a:p>
            <a:r>
              <a:rPr lang="en-US" altLang="zh-CN" dirty="0"/>
              <a:t>Workloads</a:t>
            </a:r>
          </a:p>
          <a:p>
            <a:pPr lvl="1"/>
            <a:r>
              <a:rPr lang="en-US" altLang="zh-CN" dirty="0"/>
              <a:t>YCSB with Zipf θ = 0.9, 0.95, 0.99</a:t>
            </a:r>
          </a:p>
        </p:txBody>
      </p:sp>
    </p:spTree>
    <p:extLst>
      <p:ext uri="{BB962C8B-B14F-4D97-AF65-F5344CB8AC3E}">
        <p14:creationId xmlns:p14="http://schemas.microsoft.com/office/powerpoint/2010/main" val="1249117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E109CF-5892-E4C6-2821-37BD83910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Result</a:t>
            </a:r>
            <a:endParaRPr lang="zh-CN" altLang="en-US" dirty="0"/>
          </a:p>
        </p:txBody>
      </p:sp>
      <p:pic>
        <p:nvPicPr>
          <p:cNvPr id="9" name="图片 8" descr="图表, 条形图&#10;&#10;AI 生成的内容可能不正确。">
            <a:extLst>
              <a:ext uri="{FF2B5EF4-FFF2-40B4-BE49-F238E27FC236}">
                <a16:creationId xmlns:a16="http://schemas.microsoft.com/office/drawing/2014/main" id="{D4EBD497-86DA-F9D9-0A8C-A389D7BE5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59" y="1690688"/>
            <a:ext cx="3067417" cy="1914544"/>
          </a:xfrm>
          <a:prstGeom prst="rect">
            <a:avLst/>
          </a:prstGeom>
        </p:spPr>
      </p:pic>
      <p:pic>
        <p:nvPicPr>
          <p:cNvPr id="13" name="图片 12" descr="图表, 折线图&#10;&#10;AI 生成的内容可能不正确。">
            <a:extLst>
              <a:ext uri="{FF2B5EF4-FFF2-40B4-BE49-F238E27FC236}">
                <a16:creationId xmlns:a16="http://schemas.microsoft.com/office/drawing/2014/main" id="{DB63F36E-AC9E-B6E7-2D5A-198299096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4131" y="1704483"/>
            <a:ext cx="3067417" cy="1900749"/>
          </a:xfrm>
          <a:prstGeom prst="rect">
            <a:avLst/>
          </a:prstGeom>
        </p:spPr>
      </p:pic>
      <p:pic>
        <p:nvPicPr>
          <p:cNvPr id="15" name="图片 14" descr="图表, 条形图&#10;&#10;AI 生成的内容可能不正确。">
            <a:extLst>
              <a:ext uri="{FF2B5EF4-FFF2-40B4-BE49-F238E27FC236}">
                <a16:creationId xmlns:a16="http://schemas.microsoft.com/office/drawing/2014/main" id="{BCF710B6-9907-4402-139D-B0829BC67C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1548" y="1686560"/>
            <a:ext cx="3067417" cy="1916054"/>
          </a:xfrm>
          <a:prstGeom prst="rect">
            <a:avLst/>
          </a:prstGeom>
        </p:spPr>
      </p:pic>
      <p:pic>
        <p:nvPicPr>
          <p:cNvPr id="17" name="图片 16" descr="图表, 折线图&#10;&#10;AI 生成的内容可能不正确。">
            <a:extLst>
              <a:ext uri="{FF2B5EF4-FFF2-40B4-BE49-F238E27FC236}">
                <a16:creationId xmlns:a16="http://schemas.microsoft.com/office/drawing/2014/main" id="{3A6C0FD2-A8E2-CE22-C256-AD3AFCEB02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159" y="3537120"/>
            <a:ext cx="3019972" cy="1886058"/>
          </a:xfrm>
          <a:prstGeom prst="rect">
            <a:avLst/>
          </a:prstGeom>
        </p:spPr>
      </p:pic>
      <p:pic>
        <p:nvPicPr>
          <p:cNvPr id="21" name="图片 20" descr="图表, 折线图&#10;&#10;AI 生成的内容可能不正确。">
            <a:extLst>
              <a:ext uri="{FF2B5EF4-FFF2-40B4-BE49-F238E27FC236}">
                <a16:creationId xmlns:a16="http://schemas.microsoft.com/office/drawing/2014/main" id="{235A8153-4C68-3214-8019-FA7B15E56F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1576" y="3563831"/>
            <a:ext cx="3019972" cy="1900749"/>
          </a:xfrm>
          <a:prstGeom prst="rect">
            <a:avLst/>
          </a:prstGeom>
        </p:spPr>
      </p:pic>
      <p:pic>
        <p:nvPicPr>
          <p:cNvPr id="23" name="图片 22" descr="图表, 折线图&#10;&#10;AI 生成的内容可能不正确。">
            <a:extLst>
              <a:ext uri="{FF2B5EF4-FFF2-40B4-BE49-F238E27FC236}">
                <a16:creationId xmlns:a16="http://schemas.microsoft.com/office/drawing/2014/main" id="{56004A5A-FBFC-DF28-647A-6FE20EDAB5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1547" y="3719914"/>
            <a:ext cx="3067417" cy="174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289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A120D3-5D4D-4BA7-07A7-CCF48FB91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70E2D0-B0A6-38B8-2AFB-01DCED6FA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Programmable switches enable dynamic migration.</a:t>
            </a:r>
          </a:p>
          <a:p>
            <a:r>
              <a:rPr lang="en-US" altLang="zh-CN" dirty="0"/>
              <a:t>Decouples data movement and query handling.</a:t>
            </a:r>
          </a:p>
          <a:p>
            <a:r>
              <a:rPr lang="en-US" altLang="zh-CN" dirty="0"/>
              <a:t>Ensures 0 downtime, strong consistency.</a:t>
            </a:r>
          </a:p>
          <a:p>
            <a:r>
              <a:rPr lang="en-US" altLang="zh-CN" dirty="0"/>
              <a:t>Large throughput benefit under skew.</a:t>
            </a:r>
          </a:p>
          <a:p>
            <a:r>
              <a:rPr lang="en-US" altLang="zh-CN" dirty="0"/>
              <a:t>Future: more in-network coordination + fault tolerance.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F04D1A0-6259-EBD9-5B25-4D8F546862C4}"/>
              </a:ext>
            </a:extLst>
          </p:cNvPr>
          <p:cNvSpPr txBox="1"/>
          <p:nvPr/>
        </p:nvSpPr>
        <p:spPr>
          <a:xfrm>
            <a:off x="8119640" y="4747702"/>
            <a:ext cx="27132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Thank you!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855342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1589</TotalTime>
  <Words>637</Words>
  <Application>Microsoft Office PowerPoint</Application>
  <PresentationFormat>宽屏</PresentationFormat>
  <Paragraphs>131</Paragraphs>
  <Slides>18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等线</vt:lpstr>
      <vt:lpstr>等线 Light</vt:lpstr>
      <vt:lpstr>Arial</vt:lpstr>
      <vt:lpstr>Times New Roman</vt:lpstr>
      <vt:lpstr>Office 主题​​</vt:lpstr>
      <vt:lpstr>Microsoft Visio 绘图</vt:lpstr>
      <vt:lpstr>CacheMigrate: Efficient Cache Migration for Load Balancing in Distributed Key-Value Storage Systems</vt:lpstr>
      <vt:lpstr>Key-Value Stores</vt:lpstr>
      <vt:lpstr>Existing Solutions</vt:lpstr>
      <vt:lpstr>Caching + Migration = CacheMigrate</vt:lpstr>
      <vt:lpstr>Challenges</vt:lpstr>
      <vt:lpstr>Challenges</vt:lpstr>
      <vt:lpstr>Load Management &amp; Content Selection</vt:lpstr>
      <vt:lpstr>Challenges</vt:lpstr>
      <vt:lpstr>Service Downtime Challenges</vt:lpstr>
      <vt:lpstr>Minimizing Downtime via ToR-Level Handling</vt:lpstr>
      <vt:lpstr>Challenges</vt:lpstr>
      <vt:lpstr>Why Consistency Is Difficult During Key Migration</vt:lpstr>
      <vt:lpstr>Ensuring Consistency</vt:lpstr>
      <vt:lpstr>Write-Tracking Filter for Migration Writes</vt:lpstr>
      <vt:lpstr>Final state synchronization</vt:lpstr>
      <vt:lpstr>Evaluation</vt:lpstr>
      <vt:lpstr>Result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cc</dc:creator>
  <cp:lastModifiedBy>cc</cp:lastModifiedBy>
  <cp:revision>6</cp:revision>
  <dcterms:created xsi:type="dcterms:W3CDTF">2025-12-07T12:04:37Z</dcterms:created>
  <dcterms:modified xsi:type="dcterms:W3CDTF">2025-12-11T11:57:33Z</dcterms:modified>
</cp:coreProperties>
</file>